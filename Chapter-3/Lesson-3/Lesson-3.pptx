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1"/>
  </p:notesMasterIdLst>
  <p:sldIdLst>
    <p:sldId id="256" r:id="rId3"/>
    <p:sldId id="257" r:id="rId4"/>
    <p:sldId id="283" r:id="rId5"/>
    <p:sldId id="280" r:id="rId6"/>
    <p:sldId id="319" r:id="rId7"/>
    <p:sldId id="284" r:id="rId8"/>
    <p:sldId id="264" r:id="rId9"/>
    <p:sldId id="263" r:id="rId10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12"/>
      <p:bold r:id="rId13"/>
      <p:italic r:id="rId14"/>
      <p:boldItalic r:id="rId15"/>
    </p:embeddedFon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69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458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927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029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125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06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Virtual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Components, State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Virtual 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0" name="Google Shape;141;p20">
            <a:extLst>
              <a:ext uri="{FF2B5EF4-FFF2-40B4-BE49-F238E27FC236}">
                <a16:creationId xmlns:a16="http://schemas.microsoft.com/office/drawing/2014/main" id="{97186C87-6388-427A-A518-EC7703381751}"/>
              </a:ext>
            </a:extLst>
          </p:cNvPr>
          <p:cNvSpPr/>
          <p:nvPr/>
        </p:nvSpPr>
        <p:spPr>
          <a:xfrm>
            <a:off x="1485815" y="2055728"/>
            <a:ext cx="1496386" cy="7382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UI Component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App.js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1" name="Google Shape;139;p20">
            <a:extLst>
              <a:ext uri="{FF2B5EF4-FFF2-40B4-BE49-F238E27FC236}">
                <a16:creationId xmlns:a16="http://schemas.microsoft.com/office/drawing/2014/main" id="{6F06C418-B2CE-44D9-87F6-9B0E3C5A82F8}"/>
              </a:ext>
            </a:extLst>
          </p:cNvPr>
          <p:cNvSpPr/>
          <p:nvPr/>
        </p:nvSpPr>
        <p:spPr>
          <a:xfrm>
            <a:off x="2930384" y="3006765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(New)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6" name="Google Shape;139;p20">
            <a:extLst>
              <a:ext uri="{FF2B5EF4-FFF2-40B4-BE49-F238E27FC236}">
                <a16:creationId xmlns:a16="http://schemas.microsoft.com/office/drawing/2014/main" id="{EAE3A695-8B63-453A-94C5-82B9DFFEE458}"/>
              </a:ext>
            </a:extLst>
          </p:cNvPr>
          <p:cNvSpPr/>
          <p:nvPr/>
        </p:nvSpPr>
        <p:spPr>
          <a:xfrm>
            <a:off x="4466312" y="3003893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(Current)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7" name="Google Shape;139;p20">
            <a:extLst>
              <a:ext uri="{FF2B5EF4-FFF2-40B4-BE49-F238E27FC236}">
                <a16:creationId xmlns:a16="http://schemas.microsoft.com/office/drawing/2014/main" id="{68510263-FEBA-464A-B50A-A996C14A8C53}"/>
              </a:ext>
            </a:extLst>
          </p:cNvPr>
          <p:cNvSpPr/>
          <p:nvPr/>
        </p:nvSpPr>
        <p:spPr>
          <a:xfrm>
            <a:off x="6110169" y="1965436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Browser 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DOM</a:t>
            </a:r>
            <a:endParaRPr sz="1050" b="1" dirty="0">
              <a:solidFill>
                <a:schemeClr val="tx1"/>
              </a:solidFill>
            </a:endParaRPr>
          </a:p>
        </p:txBody>
      </p:sp>
      <p:cxnSp>
        <p:nvCxnSpPr>
          <p:cNvPr id="18" name="Google Shape;146;p20">
            <a:extLst>
              <a:ext uri="{FF2B5EF4-FFF2-40B4-BE49-F238E27FC236}">
                <a16:creationId xmlns:a16="http://schemas.microsoft.com/office/drawing/2014/main" id="{CECC0252-FEA7-450A-B6BD-B42DCCAF235E}"/>
              </a:ext>
            </a:extLst>
          </p:cNvPr>
          <p:cNvCxnSpPr/>
          <p:nvPr/>
        </p:nvCxnSpPr>
        <p:spPr>
          <a:xfrm flipV="1">
            <a:off x="3614273" y="3956859"/>
            <a:ext cx="1252406" cy="40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Google Shape;143;p20">
            <a:extLst>
              <a:ext uri="{FF2B5EF4-FFF2-40B4-BE49-F238E27FC236}">
                <a16:creationId xmlns:a16="http://schemas.microsoft.com/office/drawing/2014/main" id="{E3584452-5CDF-4873-A912-AA6E8456A8F2}"/>
              </a:ext>
            </a:extLst>
          </p:cNvPr>
          <p:cNvCxnSpPr/>
          <p:nvPr/>
        </p:nvCxnSpPr>
        <p:spPr>
          <a:xfrm>
            <a:off x="3614273" y="3722427"/>
            <a:ext cx="0" cy="23443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Google Shape;144;p20">
            <a:extLst>
              <a:ext uri="{FF2B5EF4-FFF2-40B4-BE49-F238E27FC236}">
                <a16:creationId xmlns:a16="http://schemas.microsoft.com/office/drawing/2014/main" id="{4CC63E4A-BBD8-4997-B086-9DA37AF1F4DD}"/>
              </a:ext>
            </a:extLst>
          </p:cNvPr>
          <p:cNvCxnSpPr/>
          <p:nvPr/>
        </p:nvCxnSpPr>
        <p:spPr>
          <a:xfrm>
            <a:off x="4842573" y="3708444"/>
            <a:ext cx="9641" cy="2311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Google Shape;149;p20">
            <a:extLst>
              <a:ext uri="{FF2B5EF4-FFF2-40B4-BE49-F238E27FC236}">
                <a16:creationId xmlns:a16="http://schemas.microsoft.com/office/drawing/2014/main" id="{EA65CFA9-5DAC-4F36-885C-3DC2A16D3A0C}"/>
              </a:ext>
            </a:extLst>
          </p:cNvPr>
          <p:cNvCxnSpPr/>
          <p:nvPr/>
        </p:nvCxnSpPr>
        <p:spPr>
          <a:xfrm>
            <a:off x="6722227" y="2671314"/>
            <a:ext cx="0" cy="157972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Google Shape;148;p20">
            <a:extLst>
              <a:ext uri="{FF2B5EF4-FFF2-40B4-BE49-F238E27FC236}">
                <a16:creationId xmlns:a16="http://schemas.microsoft.com/office/drawing/2014/main" id="{1A571046-DAC6-459B-8BDC-C9B83551055F}"/>
              </a:ext>
            </a:extLst>
          </p:cNvPr>
          <p:cNvCxnSpPr/>
          <p:nvPr/>
        </p:nvCxnSpPr>
        <p:spPr>
          <a:xfrm>
            <a:off x="4240476" y="4271860"/>
            <a:ext cx="248175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oogle Shape;147;p20">
            <a:extLst>
              <a:ext uri="{FF2B5EF4-FFF2-40B4-BE49-F238E27FC236}">
                <a16:creationId xmlns:a16="http://schemas.microsoft.com/office/drawing/2014/main" id="{773CFA29-BE48-452E-BEF4-D61D37EF8157}"/>
              </a:ext>
            </a:extLst>
          </p:cNvPr>
          <p:cNvCxnSpPr/>
          <p:nvPr/>
        </p:nvCxnSpPr>
        <p:spPr>
          <a:xfrm>
            <a:off x="4240476" y="3956860"/>
            <a:ext cx="0" cy="315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Google Shape;145;p20">
            <a:extLst>
              <a:ext uri="{FF2B5EF4-FFF2-40B4-BE49-F238E27FC236}">
                <a16:creationId xmlns:a16="http://schemas.microsoft.com/office/drawing/2014/main" id="{7E89F563-F659-44F6-97D1-E8366C156AF8}"/>
              </a:ext>
            </a:extLst>
          </p:cNvPr>
          <p:cNvCxnSpPr/>
          <p:nvPr/>
        </p:nvCxnSpPr>
        <p:spPr>
          <a:xfrm>
            <a:off x="2236305" y="3366143"/>
            <a:ext cx="69178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Google Shape;142;p20">
            <a:extLst>
              <a:ext uri="{FF2B5EF4-FFF2-40B4-BE49-F238E27FC236}">
                <a16:creationId xmlns:a16="http://schemas.microsoft.com/office/drawing/2014/main" id="{3C9B7A4D-3563-4733-ABED-E8CEE49D0D8F}"/>
              </a:ext>
            </a:extLst>
          </p:cNvPr>
          <p:cNvCxnSpPr/>
          <p:nvPr/>
        </p:nvCxnSpPr>
        <p:spPr>
          <a:xfrm>
            <a:off x="2234008" y="2796691"/>
            <a:ext cx="0" cy="5694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Google Shape;152;p20">
            <a:extLst>
              <a:ext uri="{FF2B5EF4-FFF2-40B4-BE49-F238E27FC236}">
                <a16:creationId xmlns:a16="http://schemas.microsoft.com/office/drawing/2014/main" id="{FA2FAD1E-D666-4DCB-AEE8-DE4E8DAB9BF0}"/>
              </a:ext>
            </a:extLst>
          </p:cNvPr>
          <p:cNvSpPr txBox="1"/>
          <p:nvPr/>
        </p:nvSpPr>
        <p:spPr>
          <a:xfrm>
            <a:off x="4900083" y="3956860"/>
            <a:ext cx="2240568" cy="27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Difference Updated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151;p20">
            <a:extLst>
              <a:ext uri="{FF2B5EF4-FFF2-40B4-BE49-F238E27FC236}">
                <a16:creationId xmlns:a16="http://schemas.microsoft.com/office/drawing/2014/main" id="{5AEA3EE9-D23B-472D-8DBB-876662915D31}"/>
              </a:ext>
            </a:extLst>
          </p:cNvPr>
          <p:cNvSpPr txBox="1"/>
          <p:nvPr/>
        </p:nvSpPr>
        <p:spPr>
          <a:xfrm>
            <a:off x="2363460" y="3049138"/>
            <a:ext cx="536625" cy="19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JSX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43696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100" b="1" dirty="0"/>
              <a:t>WHY REACTJS?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1D3AB-B942-4D0F-8FD9-F7B95161BCE1}"/>
              </a:ext>
            </a:extLst>
          </p:cNvPr>
          <p:cNvSpPr/>
          <p:nvPr/>
        </p:nvSpPr>
        <p:spPr>
          <a:xfrm>
            <a:off x="2096479" y="1531354"/>
            <a:ext cx="4979192" cy="393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Virtual DOM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79AB4-D6BE-4CEF-863B-012D29A4BDDC}"/>
              </a:ext>
            </a:extLst>
          </p:cNvPr>
          <p:cNvSpPr/>
          <p:nvPr/>
        </p:nvSpPr>
        <p:spPr>
          <a:xfrm>
            <a:off x="2096480" y="262033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Unidirectional Data Flow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0C4C-4334-4CE7-89EE-349295F68ECA}"/>
              </a:ext>
            </a:extLst>
          </p:cNvPr>
          <p:cNvSpPr/>
          <p:nvPr/>
        </p:nvSpPr>
        <p:spPr>
          <a:xfrm>
            <a:off x="2091385" y="3715976"/>
            <a:ext cx="4961230" cy="3962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Component Based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CE3798-B26B-41B8-8D0C-3D10C1C0DB26}"/>
              </a:ext>
            </a:extLst>
          </p:cNvPr>
          <p:cNvSpPr/>
          <p:nvPr/>
        </p:nvSpPr>
        <p:spPr>
          <a:xfrm>
            <a:off x="2096480" y="3156108"/>
            <a:ext cx="4961230" cy="3809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r>
              <a:rPr lang="en-IN" sz="1500" b="1" dirty="0">
                <a:solidFill>
                  <a:schemeClr val="tx1"/>
                </a:solidFill>
              </a:rPr>
              <a:t>        </a:t>
            </a:r>
            <a:r>
              <a:rPr lang="en-IN" sz="1800" b="1" dirty="0">
                <a:solidFill>
                  <a:schemeClr val="tx1"/>
                </a:solidFill>
              </a:rPr>
              <a:t>JSX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B7A3EC-F033-481D-A60E-B6AEE864A689}"/>
              </a:ext>
            </a:extLst>
          </p:cNvPr>
          <p:cNvSpPr/>
          <p:nvPr/>
        </p:nvSpPr>
        <p:spPr>
          <a:xfrm>
            <a:off x="2096479" y="208456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SPA VS MPA </a:t>
            </a:r>
          </a:p>
        </p:txBody>
      </p:sp>
    </p:spTree>
    <p:extLst>
      <p:ext uri="{BB962C8B-B14F-4D97-AF65-F5344CB8AC3E}">
        <p14:creationId xmlns:p14="http://schemas.microsoft.com/office/powerpoint/2010/main" val="3985561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F8FADB-F66B-5FAF-BD4E-28834807D9A3}"/>
              </a:ext>
            </a:extLst>
          </p:cNvPr>
          <p:cNvSpPr/>
          <p:nvPr/>
        </p:nvSpPr>
        <p:spPr>
          <a:xfrm>
            <a:off x="3360420" y="1237535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App</a:t>
            </a:r>
            <a:endParaRPr lang="en-IN" sz="10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F8C7F-68BB-9432-413F-92FC69B10552}"/>
              </a:ext>
            </a:extLst>
          </p:cNvPr>
          <p:cNvSpPr/>
          <p:nvPr/>
        </p:nvSpPr>
        <p:spPr>
          <a:xfrm>
            <a:off x="1463040" y="2255521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Display</a:t>
            </a:r>
            <a:endParaRPr lang="en-IN" sz="10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B469F-A618-B0B8-3C72-01D8D2A58B0B}"/>
              </a:ext>
            </a:extLst>
          </p:cNvPr>
          <p:cNvSpPr/>
          <p:nvPr/>
        </p:nvSpPr>
        <p:spPr>
          <a:xfrm>
            <a:off x="861060" y="3444240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DisplayData</a:t>
            </a:r>
            <a:endParaRPr lang="en-IN" sz="105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34A89A-5F4A-3EAB-C67A-644B8C1A2BE4}"/>
              </a:ext>
            </a:extLst>
          </p:cNvPr>
          <p:cNvCxnSpPr>
            <a:stCxn id="2" idx="1"/>
            <a:endCxn id="4" idx="0"/>
          </p:cNvCxnSpPr>
          <p:nvPr/>
        </p:nvCxnSpPr>
        <p:spPr>
          <a:xfrm flipH="1">
            <a:off x="2564130" y="1645205"/>
            <a:ext cx="796290" cy="610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DE1835-8E2B-2B21-89E2-A70E276F530F}"/>
              </a:ext>
            </a:extLst>
          </p:cNvPr>
          <p:cNvCxnSpPr/>
          <p:nvPr/>
        </p:nvCxnSpPr>
        <p:spPr>
          <a:xfrm flipH="1">
            <a:off x="1779270" y="2898076"/>
            <a:ext cx="784860" cy="57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196627-F844-E3FC-A643-5396DA21BE91}"/>
              </a:ext>
            </a:extLst>
          </p:cNvPr>
          <p:cNvSpPr/>
          <p:nvPr/>
        </p:nvSpPr>
        <p:spPr>
          <a:xfrm>
            <a:off x="5478780" y="2371058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DisplayTwo</a:t>
            </a:r>
            <a:endParaRPr lang="en-IN" sz="105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2126B2-8EEA-44F0-4EEC-5F33422DA2F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623560" y="1645205"/>
            <a:ext cx="956310" cy="72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66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SPA VS MPA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289D6-90C0-4FD2-A825-978306F72F42}"/>
              </a:ext>
            </a:extLst>
          </p:cNvPr>
          <p:cNvSpPr txBox="1"/>
          <p:nvPr/>
        </p:nvSpPr>
        <p:spPr>
          <a:xfrm>
            <a:off x="381000" y="899955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SPA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6F6A7-4162-4946-8642-717B1C2B5420}"/>
              </a:ext>
            </a:extLst>
          </p:cNvPr>
          <p:cNvSpPr txBox="1"/>
          <p:nvPr/>
        </p:nvSpPr>
        <p:spPr>
          <a:xfrm>
            <a:off x="381000" y="279133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MPA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BA553-D378-4E5A-920B-1B600A28417E}"/>
              </a:ext>
            </a:extLst>
          </p:cNvPr>
          <p:cNvSpPr txBox="1"/>
          <p:nvPr/>
        </p:nvSpPr>
        <p:spPr>
          <a:xfrm>
            <a:off x="323770" y="1134212"/>
            <a:ext cx="85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A SPA is an app that works inside a browser and does not require page reloading during use.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It is just one web page that you visit which then loads all other content using JavaScript — which they heavily depend on.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SPA requests the markup and data independently and renders pages straight in the browser.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Typically it has only one reactDOM.render() call because we have one root app component which hosts other react component</a:t>
            </a:r>
            <a:endParaRPr lang="en" sz="1200" dirty="0">
              <a:sym typeface="Georgia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</a:t>
            </a:r>
            <a:r>
              <a:rPr lang="en" sz="1200" dirty="0">
                <a:ea typeface="Georgia"/>
                <a:cs typeface="Georgia"/>
                <a:sym typeface="Georgia"/>
              </a:rPr>
              <a:t>Gmail, Google Maps, Facebook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ea typeface="Georgia"/>
              <a:cs typeface="Georgia"/>
              <a:sym typeface="Georgi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D82C7-736B-4A75-B35F-15818C29F17F}"/>
              </a:ext>
            </a:extLst>
          </p:cNvPr>
          <p:cNvSpPr txBox="1"/>
          <p:nvPr/>
        </p:nvSpPr>
        <p:spPr>
          <a:xfrm>
            <a:off x="323770" y="3028834"/>
            <a:ext cx="85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MPA is considered a more classical approach to app development. The multi-page design pattern requires a page reload every time the content changes. 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Every Change i.e. displaying the data or submit data back to server requests rendering a new page from the server.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Before deploying a web application, you need to consider the goal of it. If you know you need multiple categories — use a multi-page site. 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extensive product portfolios, for example, e-commerce businesses.</a:t>
            </a:r>
            <a:endParaRPr lang="en-IN" sz="1200" dirty="0">
              <a:latin typeface="+mj-lt"/>
            </a:endParaRP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latin typeface="+mj-lt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0759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257</Words>
  <Application>Microsoft Office PowerPoint</Application>
  <PresentationFormat>On-screen Show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Wingdings</vt:lpstr>
      <vt:lpstr>Calibri</vt:lpstr>
      <vt:lpstr>Lato</vt:lpstr>
      <vt:lpstr>Arial</vt:lpstr>
      <vt:lpstr>AngsanaUPC</vt:lpstr>
      <vt:lpstr>Montserrat</vt:lpstr>
      <vt:lpstr>Georgia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HTML</vt:lpstr>
      <vt:lpstr>HTML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94</cp:revision>
  <dcterms:modified xsi:type="dcterms:W3CDTF">2026-01-17T15:24:45Z</dcterms:modified>
</cp:coreProperties>
</file>